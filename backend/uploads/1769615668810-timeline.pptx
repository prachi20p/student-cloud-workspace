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3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4FE60-B059-5F94-7714-BA8D7B634C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5A0BA5-C80F-577A-07CC-A970ED32A8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8288-4DCC-88C9-43C2-43B0C8C93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1A25-64B0-48C5-8A4E-D6AF65D0A3C2}" type="datetimeFigureOut">
              <a:rPr lang="en-IN" smtClean="0"/>
              <a:t>04-04-2025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BB7F65-A34E-450C-636A-3C021B69D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5A432C-6005-2A01-A823-09ACE153A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82363-80EC-45B5-BB63-57CBCB3648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8134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2BAF4-66B5-80FC-AFF6-4DF185F8D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DD486-BB9E-0CA4-4F01-72830CDA07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3DDBC9-1370-AF6D-E316-1F4CFC1E9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1A25-64B0-48C5-8A4E-D6AF65D0A3C2}" type="datetimeFigureOut">
              <a:rPr lang="en-IN" smtClean="0"/>
              <a:t>04-04-2025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A63EC1-9EDB-9D28-A073-B22AC89D0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6D4AFB-E81C-43A3-2AED-862C8C515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82363-80EC-45B5-BB63-57CBCB3648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9366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AFF11-D68E-D088-A713-F3ABE7F8A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DBF630-7442-C9F5-F9E1-22FF233833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786E2B-354E-FF50-6FE4-B094B63D5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1A25-64B0-48C5-8A4E-D6AF65D0A3C2}" type="datetimeFigureOut">
              <a:rPr lang="en-IN" smtClean="0"/>
              <a:t>04-04-2025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E935C3-EC5A-606B-749A-A47DB87A2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A46BAE-14B2-6B82-C1EE-8F24E2186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82363-80EC-45B5-BB63-57CBCB3648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2025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12BA0-1655-1497-9066-DD8B40630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02237C-5AB7-55D1-603D-14873025C1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0B1D68-2E2F-7976-5C7D-C0234255D5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B90915-68B1-1B9B-3BBA-B501FEA3E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1A25-64B0-48C5-8A4E-D6AF65D0A3C2}" type="datetimeFigureOut">
              <a:rPr lang="en-IN" smtClean="0"/>
              <a:t>04-04-2025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B907E1-327D-0492-9136-1792DB50E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C4BD6F-14AC-80BA-5093-C5C9A89AE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82363-80EC-45B5-BB63-57CBCB3648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8374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62BAF-FFE2-FDDF-F668-188E81D3F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FD692F-918B-7B00-13C5-D92D0EC728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5E02A9-157C-B711-BDB0-FED967A05F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CC3FF1-A024-2C31-4463-DAEF008FD0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2AEF97-498D-1129-6B01-69272E1E20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066764-CA03-34DD-9B82-3F6F2FD87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1A25-64B0-48C5-8A4E-D6AF65D0A3C2}" type="datetimeFigureOut">
              <a:rPr lang="en-IN" smtClean="0"/>
              <a:t>04-04-2025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982278-95FA-442B-2946-DEEB38BB0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D3C3FF-5947-78BE-8134-D969B5E2F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82363-80EC-45B5-BB63-57CBCB3648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2725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3359E-DDF9-AB8F-0FD2-11A4FB34E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634141-766E-9AAC-54DC-7AACD6DA4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1A25-64B0-48C5-8A4E-D6AF65D0A3C2}" type="datetimeFigureOut">
              <a:rPr lang="en-IN" smtClean="0"/>
              <a:t>04-04-2025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2D89BA-1EAE-1C7E-A6C2-59EF05E5B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5DAAB8-3497-440A-977F-78DDE305B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82363-80EC-45B5-BB63-57CBCB3648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647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BCCF27-3C8E-52EA-39A1-28A9A18A8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1A25-64B0-48C5-8A4E-D6AF65D0A3C2}" type="datetimeFigureOut">
              <a:rPr lang="en-IN" smtClean="0"/>
              <a:t>04-04-2025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D3CE79-55BD-E939-208D-4A17E8D31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EF2216-FDDD-254B-29BB-44370251C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82363-80EC-45B5-BB63-57CBCB3648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5370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4E4D5-CF66-E1C2-240C-37F964D42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A6D894-CA13-A2A6-CAD7-F5192769D5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CE91E8-0336-E389-4178-394CDF80EF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45D0C1-8E59-E112-E33F-24B50DCC9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1A25-64B0-48C5-8A4E-D6AF65D0A3C2}" type="datetimeFigureOut">
              <a:rPr lang="en-IN" smtClean="0"/>
              <a:t>04-04-2025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E2FDA1-E977-2713-1703-0B1A79F09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D5BCA1-F6F0-0AFE-8CE7-B73CB1E03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82363-80EC-45B5-BB63-57CBCB3648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2613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325C0-3E48-DCC9-133B-6B5A88A91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127F34-4DA0-FB19-FBBC-5A18F1E4ED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EF6E37-0A90-01A5-D2A9-3BDF3633EA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CCF20C-C0B2-5ADD-3734-8D3608F46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1A25-64B0-48C5-8A4E-D6AF65D0A3C2}" type="datetimeFigureOut">
              <a:rPr lang="en-IN" smtClean="0"/>
              <a:t>04-04-2025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35B655-CE74-9346-A465-55A6DEBBE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BC9D5-5E07-1617-DD6D-AD9E4C387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82363-80EC-45B5-BB63-57CBCB3648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3210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BDE11-231F-2537-9AE6-FB05479F7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0C2C81-F781-1593-A873-8169F9CD7F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F0EDE7-1192-4050-07A0-471114AB0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1A25-64B0-48C5-8A4E-D6AF65D0A3C2}" type="datetimeFigureOut">
              <a:rPr lang="en-IN" smtClean="0"/>
              <a:t>04-04-2025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E37AB-069B-DB3B-8037-D55ED499D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579F50-6E41-3C0C-FB2C-F9A8A6C8C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82363-80EC-45B5-BB63-57CBCB3648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9811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ABDED0-7D8F-ABEC-2D94-C33C48D0D2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AF0B17-3407-9992-48E1-BAC325977A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2C8A60-D085-A01F-4137-EA570117F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1A25-64B0-48C5-8A4E-D6AF65D0A3C2}" type="datetimeFigureOut">
              <a:rPr lang="en-IN" smtClean="0"/>
              <a:t>04-04-2025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E7451-334B-02F1-1156-92BB3A9D2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213E5D-2B42-2579-D8A6-CB6E32FAE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C82363-80EC-45B5-BB63-57CBCB3648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378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BA1FA6-28CD-2E8C-87CF-6BC93BEC1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E84DCA-E866-F007-CC0D-3EF9A92A27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0EA0BF-605C-7D5D-D82E-BA5D901491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261A25-64B0-48C5-8A4E-D6AF65D0A3C2}" type="datetimeFigureOut">
              <a:rPr lang="en-IN" smtClean="0"/>
              <a:t>04-04-2025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5E5CD4-AD7C-0D3A-EB24-5EC3DB595B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132F5C-2AA9-8BB4-3E35-1DCDF501D4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C82363-80EC-45B5-BB63-57CBCB3648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4406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851A920-6565-4CBF-4B6A-E9C8E1FE0FD5}"/>
              </a:ext>
            </a:extLst>
          </p:cNvPr>
          <p:cNvGraphicFramePr>
            <a:graphicFrameLocks noGrp="1"/>
          </p:cNvGraphicFramePr>
          <p:nvPr/>
        </p:nvGraphicFramePr>
        <p:xfrm>
          <a:off x="178049" y="641410"/>
          <a:ext cx="11835901" cy="55751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97359">
                  <a:extLst>
                    <a:ext uri="{9D8B030D-6E8A-4147-A177-3AD203B41FA5}">
                      <a16:colId xmlns:a16="http://schemas.microsoft.com/office/drawing/2014/main" val="3251823112"/>
                    </a:ext>
                  </a:extLst>
                </a:gridCol>
                <a:gridCol w="607162">
                  <a:extLst>
                    <a:ext uri="{9D8B030D-6E8A-4147-A177-3AD203B41FA5}">
                      <a16:colId xmlns:a16="http://schemas.microsoft.com/office/drawing/2014/main" val="4107313119"/>
                    </a:ext>
                  </a:extLst>
                </a:gridCol>
                <a:gridCol w="607162">
                  <a:extLst>
                    <a:ext uri="{9D8B030D-6E8A-4147-A177-3AD203B41FA5}">
                      <a16:colId xmlns:a16="http://schemas.microsoft.com/office/drawing/2014/main" val="2137151729"/>
                    </a:ext>
                  </a:extLst>
                </a:gridCol>
                <a:gridCol w="607162">
                  <a:extLst>
                    <a:ext uri="{9D8B030D-6E8A-4147-A177-3AD203B41FA5}">
                      <a16:colId xmlns:a16="http://schemas.microsoft.com/office/drawing/2014/main" val="959377689"/>
                    </a:ext>
                  </a:extLst>
                </a:gridCol>
                <a:gridCol w="607162">
                  <a:extLst>
                    <a:ext uri="{9D8B030D-6E8A-4147-A177-3AD203B41FA5}">
                      <a16:colId xmlns:a16="http://schemas.microsoft.com/office/drawing/2014/main" val="2157535634"/>
                    </a:ext>
                  </a:extLst>
                </a:gridCol>
                <a:gridCol w="607162">
                  <a:extLst>
                    <a:ext uri="{9D8B030D-6E8A-4147-A177-3AD203B41FA5}">
                      <a16:colId xmlns:a16="http://schemas.microsoft.com/office/drawing/2014/main" val="1238284156"/>
                    </a:ext>
                  </a:extLst>
                </a:gridCol>
                <a:gridCol w="607162">
                  <a:extLst>
                    <a:ext uri="{9D8B030D-6E8A-4147-A177-3AD203B41FA5}">
                      <a16:colId xmlns:a16="http://schemas.microsoft.com/office/drawing/2014/main" val="2560043889"/>
                    </a:ext>
                  </a:extLst>
                </a:gridCol>
                <a:gridCol w="574164">
                  <a:extLst>
                    <a:ext uri="{9D8B030D-6E8A-4147-A177-3AD203B41FA5}">
                      <a16:colId xmlns:a16="http://schemas.microsoft.com/office/drawing/2014/main" val="3518862865"/>
                    </a:ext>
                  </a:extLst>
                </a:gridCol>
                <a:gridCol w="607162">
                  <a:extLst>
                    <a:ext uri="{9D8B030D-6E8A-4147-A177-3AD203B41FA5}">
                      <a16:colId xmlns:a16="http://schemas.microsoft.com/office/drawing/2014/main" val="2278581977"/>
                    </a:ext>
                  </a:extLst>
                </a:gridCol>
                <a:gridCol w="607162">
                  <a:extLst>
                    <a:ext uri="{9D8B030D-6E8A-4147-A177-3AD203B41FA5}">
                      <a16:colId xmlns:a16="http://schemas.microsoft.com/office/drawing/2014/main" val="3249335238"/>
                    </a:ext>
                  </a:extLst>
                </a:gridCol>
                <a:gridCol w="674593">
                  <a:extLst>
                    <a:ext uri="{9D8B030D-6E8A-4147-A177-3AD203B41FA5}">
                      <a16:colId xmlns:a16="http://schemas.microsoft.com/office/drawing/2014/main" val="3297460263"/>
                    </a:ext>
                  </a:extLst>
                </a:gridCol>
                <a:gridCol w="674593">
                  <a:extLst>
                    <a:ext uri="{9D8B030D-6E8A-4147-A177-3AD203B41FA5}">
                      <a16:colId xmlns:a16="http://schemas.microsoft.com/office/drawing/2014/main" val="3013565516"/>
                    </a:ext>
                  </a:extLst>
                </a:gridCol>
                <a:gridCol w="674593">
                  <a:extLst>
                    <a:ext uri="{9D8B030D-6E8A-4147-A177-3AD203B41FA5}">
                      <a16:colId xmlns:a16="http://schemas.microsoft.com/office/drawing/2014/main" val="3836748982"/>
                    </a:ext>
                  </a:extLst>
                </a:gridCol>
                <a:gridCol w="674593">
                  <a:extLst>
                    <a:ext uri="{9D8B030D-6E8A-4147-A177-3AD203B41FA5}">
                      <a16:colId xmlns:a16="http://schemas.microsoft.com/office/drawing/2014/main" val="967492425"/>
                    </a:ext>
                  </a:extLst>
                </a:gridCol>
                <a:gridCol w="708710">
                  <a:extLst>
                    <a:ext uri="{9D8B030D-6E8A-4147-A177-3AD203B41FA5}">
                      <a16:colId xmlns:a16="http://schemas.microsoft.com/office/drawing/2014/main" val="2606678123"/>
                    </a:ext>
                  </a:extLst>
                </a:gridCol>
              </a:tblGrid>
              <a:tr h="278759">
                <a:tc rowSpan="2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gridSpan="14"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</a:t>
                      </a:r>
                      <a:endParaRPr lang="en-IN" sz="105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 sz="105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 sz="105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 sz="105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 sz="105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 sz="105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 sz="105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 sz="105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 sz="105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 sz="105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 sz="105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 sz="105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 sz="105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 sz="105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9050030"/>
                  </a:ext>
                </a:extLst>
              </a:tr>
              <a:tr h="27875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1</a:t>
                      </a:r>
                      <a:endParaRPr lang="en-IN" sz="105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2</a:t>
                      </a:r>
                      <a:endParaRPr lang="en-IN" sz="105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3</a:t>
                      </a:r>
                      <a:endParaRPr lang="en-IN" sz="105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4</a:t>
                      </a:r>
                      <a:endParaRPr lang="en-IN" sz="105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5</a:t>
                      </a:r>
                      <a:endParaRPr lang="en-IN" sz="105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6</a:t>
                      </a:r>
                      <a:endParaRPr lang="en-IN" sz="105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7</a:t>
                      </a:r>
                      <a:endParaRPr lang="en-IN" sz="105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8</a:t>
                      </a:r>
                      <a:endParaRPr lang="en-IN" sz="105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9</a:t>
                      </a:r>
                      <a:endParaRPr lang="en-IN" sz="105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10</a:t>
                      </a:r>
                      <a:endParaRPr lang="en-IN" sz="105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11</a:t>
                      </a:r>
                      <a:endParaRPr lang="en-IN" sz="105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12</a:t>
                      </a:r>
                      <a:endParaRPr lang="en-IN" sz="105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13</a:t>
                      </a:r>
                      <a:endParaRPr lang="en-IN" sz="105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14</a:t>
                      </a:r>
                      <a:endParaRPr lang="en-IN" sz="105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334936751"/>
                  </a:ext>
                </a:extLst>
              </a:tr>
              <a:tr h="557518">
                <a:tc>
                  <a:txBody>
                    <a:bodyPr/>
                    <a:lstStyle/>
                    <a:p>
                      <a:pPr algn="ctr"/>
                      <a:r>
                        <a:rPr lang="en-IN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Objectives, Data Collection, Literature Review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 1 - 14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202081"/>
                  </a:ext>
                </a:extLst>
              </a:tr>
              <a:tr h="557518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Preprocessing (Missing Data, Features, Encoding)</a:t>
                      </a:r>
                      <a:endParaRPr lang="en-IN" sz="10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 15 - 28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4120496"/>
                  </a:ext>
                </a:extLst>
              </a:tr>
              <a:tr h="557518">
                <a:tc>
                  <a:txBody>
                    <a:bodyPr/>
                    <a:lstStyle/>
                    <a:p>
                      <a:pPr algn="ctr"/>
                      <a:r>
                        <a:rPr lang="en-IN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 Models (LR, DT, RF), Initial Comparison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 29 - Jan 11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1564044"/>
                  </a:ext>
                </a:extLst>
              </a:tr>
              <a:tr h="557518">
                <a:tc>
                  <a:txBody>
                    <a:bodyPr/>
                    <a:lstStyle/>
                    <a:p>
                      <a:pPr algn="ctr"/>
                      <a:r>
                        <a:rPr lang="en-IN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Tuning, Cross-Validation, Overfitting Mitigation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Jan 12 - 25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6955748"/>
                  </a:ext>
                </a:extLst>
              </a:tr>
              <a:tr h="557518">
                <a:tc>
                  <a:txBody>
                    <a:bodyPr/>
                    <a:lstStyle/>
                    <a:p>
                      <a:pPr algn="ctr"/>
                      <a:r>
                        <a:rPr lang="en-IN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Finalize Results, Draft Paper (Intro, Methodology)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Jan 26 - Feb 1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555752"/>
                  </a:ext>
                </a:extLst>
              </a:tr>
              <a:tr h="557518">
                <a:tc>
                  <a:txBody>
                    <a:bodyPr/>
                    <a:lstStyle/>
                    <a:p>
                      <a:pPr algn="ctr"/>
                      <a:r>
                        <a:rPr lang="en-IN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Refine Results, Visualizations, Comparisons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Feb 2 - 15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9346994"/>
                  </a:ext>
                </a:extLst>
              </a:tr>
              <a:tr h="557518">
                <a:tc>
                  <a:txBody>
                    <a:bodyPr/>
                    <a:lstStyle/>
                    <a:p>
                      <a:pPr algn="ctr"/>
                      <a:r>
                        <a:rPr lang="en-IN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Conclusion, Citations, Proofreading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Feb 16 - 22</a:t>
                      </a:r>
                    </a:p>
                  </a:txBody>
                  <a:tcPr anchor="ctr">
                    <a:solidFill>
                      <a:srgbClr val="66FFC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6443923"/>
                  </a:ext>
                </a:extLst>
              </a:tr>
              <a:tr h="557518">
                <a:tc>
                  <a:txBody>
                    <a:bodyPr/>
                    <a:lstStyle/>
                    <a:p>
                      <a:pPr algn="ctr"/>
                      <a:r>
                        <a:rPr lang="en-IN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Peer Review, Feedback Integration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Feb 23 - Mar 1</a:t>
                      </a:r>
                    </a:p>
                  </a:txBody>
                  <a:tcPr anchor="ctr">
                    <a:solidFill>
                      <a:srgbClr val="CC339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8028314"/>
                  </a:ext>
                </a:extLst>
              </a:tr>
              <a:tr h="557518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Formatting, Submission to ICTIS 2025</a:t>
                      </a:r>
                      <a:endParaRPr lang="en-IN" sz="10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 2 - 6</a:t>
                      </a:r>
                    </a:p>
                  </a:txBody>
                  <a:tcPr anchor="ctr">
                    <a:solidFill>
                      <a:srgbClr val="00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59148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185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</Words>
  <Application>Microsoft Office PowerPoint</Application>
  <PresentationFormat>Widescreen</PresentationFormat>
  <Paragraphs>33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pushpak patel</dc:creator>
  <cp:lastModifiedBy>pushpak patel</cp:lastModifiedBy>
  <cp:revision>1</cp:revision>
  <dcterms:created xsi:type="dcterms:W3CDTF">2025-04-04T11:05:07Z</dcterms:created>
  <dcterms:modified xsi:type="dcterms:W3CDTF">2025-04-04T11:05:23Z</dcterms:modified>
</cp:coreProperties>
</file>